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 I am Rebecca. My project is called Traffic Tracks. It is a regression project on a pedestrian traffic dataset. I cleaned the data, selected features, trained five regression models to predict the timestamp, and I also found and fixed a mistake in my own first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project information. It is a regression project, because my target, timestamp, is a continuous number. There are 4,759 instances, which are rows, from 45 pedestrians. There are 14 features: 13 inputs and one target. The inputs are the pedestrian ID, position x and y, six body and head angles, and four columns about nearby objects. The six angle columns are missing about 57 percent of their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overview of everything I did. I started with statistics, then handled 2,698 missing values per angle column with the median, and found no duplicates. I drew a correlation heatmap, encoded the text columns, and checked outliers with box plots. SMOTE was skipped because my target is a number. I selected 4 features, tested a skewness fix, scaled the data, and trained five models. The next slides show the heatmap and box plot in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correlation heat map. I used df.corr and seaborn. Orange means a positive link and teal means a negative link. Against timestamp, the strongest link is oid at 0.37. Position x and y are weak and negative, and the angle columns are almost zero. So no single feature explains the timestamp, and I expected a simple model to struggle.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box plot. On the left are the five angle columns before capping, and the orange dots are outliers. On the right is after I capped values with the IQR rule. The counts are: head roll 831, head pitch 726, body pitch 481, body roll 411 and head yaw 37. One thing I learned: most angle values are zero, so the IQR is zero, and capping made three columns completely flat. That is why they get a score of zero in feature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Encoding: I used Label Encoding for the text columns. SMOTE is only for classification, so I deliberately skipped it. For feature selection I used SelectKBest with f_regression because my target is continuous. I first wrote k as 25, but there are only 13 features, so I used 4. The selected features are oid, y, x and body yaw. The three flattened columns scored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skewness I tested a Yeo-Johnson power transform and the score barely moved, so I did not need it. I scaled the four selected features with StandardScaler, split the data 80 and 20, and compared five regression models. I measured them with MAE, MSE and R squared, because accuracy is only for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slide. My first model gave R squared of 1.0 and an error close to zero. That is too perfect. I checked and found that timestamp, my target, was still in the features, so the model was predicting timestamp using timestamp. I removed it with one line, and Linear Regression dropped to 0.24. That is the honest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fix, Linear Regression is weak, with R squared 0.24. The tree models score near 1.0 on my normal split, because nearby points from the same pedestrian are in both train and test. So I also tested on pedestrians the model never saw. There, Random Forest is best at about 0.93, and Gradient Boosting is close at 0.92. Linear Regression stays 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finish: three lessons. One, a simple linear model was not enough. Two, Random Forest was the best model, even on pedestrians it had never seen. Three, a perfect score should make you suspicious. Check for leakage before you celebrate. Thank you, I am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0572"/>
            <a:ext cx="10566400" cy="40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09102"/>
            <a:ext cx="10566400" cy="423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0572"/>
            <a:ext cx="10566400" cy="40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4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09102"/>
            <a:ext cx="10566400" cy="423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0" y="1016000"/>
            <a:ext cx="2794000" cy="2794000"/>
          </a:xfrm>
          <a:prstGeom prst="rect">
            <a:avLst/>
          </a:prstGeom>
        </p:spPr>
      </p:pic>
      <p:pic>
        <p:nvPicPr>
          <p:cNvPr id="3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98000" y="3556000"/>
            <a:ext cx="1397000" cy="139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12800" y="2112277"/>
            <a:ext cx="10883392" cy="25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200" kern="0" dirty="0">
                <a:solidFill>
                  <a:srgbClr val="F2B8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REGRESSION PROJECT</a:t>
            </a:r>
            <a:endParaRPr lang="en-US" sz="1500" dirty="0"/>
          </a:p>
        </p:txBody>
      </p:sp>
      <p:sp>
        <p:nvSpPr>
          <p:cNvPr id="5" name="Text 1"/>
          <p:cNvSpPr/>
          <p:nvPr>
            <p:ph type="title"/>
          </p:nvPr>
        </p:nvSpPr>
        <p:spPr>
          <a:xfrm>
            <a:off x="812800" y="2567565"/>
            <a:ext cx="10883392" cy="932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00"/>
              </a:lnSpc>
              <a:buNone/>
            </a:pPr>
            <a:r>
              <a:rPr lang="en-US" sz="8400" b="1" i="0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Traffic Tracks</a:t>
            </a:r>
            <a:endParaRPr lang="en-US" sz="8400" dirty="0"/>
          </a:p>
        </p:txBody>
      </p:sp>
      <p:sp>
        <p:nvSpPr>
          <p:cNvPr id="6" name="Text 2"/>
          <p:cNvSpPr/>
          <p:nvPr/>
        </p:nvSpPr>
        <p:spPr>
          <a:xfrm>
            <a:off x="812800" y="3702952"/>
            <a:ext cx="7194550" cy="33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3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Predicting pedestrian timestamps from traffic track data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12800" y="4240249"/>
            <a:ext cx="10883392" cy="327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Presented by Rebecca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PROJECT INFORMATION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0571"/>
            <a:ext cx="10883392" cy="42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Regression on pedestrian tracks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732901"/>
            <a:ext cx="3414352" cy="1166488"/>
          </a:xfrm>
          <a:prstGeom prst="roundRect">
            <a:avLst>
              <a:gd name="adj" fmla="val 10887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910701"/>
            <a:ext cx="3045866" cy="22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2B8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Problem type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1400" y="2145290"/>
            <a:ext cx="3045866" cy="3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Regression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41400" y="2515863"/>
            <a:ext cx="3045866" cy="22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Target is a number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2727" y="1736076"/>
            <a:ext cx="3417274" cy="1160138"/>
          </a:xfrm>
          <a:prstGeom prst="roundRect">
            <a:avLst>
              <a:gd name="adj" fmla="val 10673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2770" y="1915319"/>
            <a:ext cx="3045904" cy="22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Instances (rows)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12770" y="2149908"/>
            <a:ext cx="3045904" cy="3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4,759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2770" y="2520481"/>
            <a:ext cx="3045904" cy="22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from 45 pedestrians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8751" y="1736076"/>
            <a:ext cx="3417274" cy="1160138"/>
          </a:xfrm>
          <a:prstGeom prst="roundRect">
            <a:avLst>
              <a:gd name="adj" fmla="val 10673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8794" y="1915319"/>
            <a:ext cx="3045904" cy="22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Features (columns)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88794" y="2149908"/>
            <a:ext cx="3045904" cy="357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88794" y="2520481"/>
            <a:ext cx="3045904" cy="22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 inputs and 1 target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45" y="3139534"/>
          <a:ext cx="10554855" cy="2085109"/>
        </p:xfrm>
        <a:graphic>
          <a:graphicData uri="http://schemas.openxmlformats.org/drawingml/2006/table">
            <a:tbl>
              <a:tblPr/>
              <a:tblGrid>
                <a:gridCol w="2744262"/>
                <a:gridCol w="5277427"/>
                <a:gridCol w="2533165"/>
              </a:tblGrid>
              <a:tr h="347518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Group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Columns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Role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47518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Time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timestamp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Target (y)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</a:tr>
              <a:tr h="347518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Identity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oid (pedestrian ID)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Input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518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Position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x, y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Input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518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Body and head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body and head roll, pitch, yaw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Input (57% missing)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518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Nearby objects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other_oid, other_class, other_x, other_y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Input (text)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12800" y="6270265"/>
            <a:ext cx="588645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Rebecca · Traffic Tracks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0" y="6270265"/>
            <a:ext cx="132080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0572"/>
            <a:ext cx="10883392" cy="42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did, step by step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736075"/>
            <a:ext cx="2005301" cy="1171395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818" y="1889919"/>
            <a:ext cx="1748543" cy="262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9818" y="2178194"/>
            <a:ext cx="1748543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Statistics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818" y="2402790"/>
            <a:ext cx="1748543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info, describe, shape: 4,759 × 14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54626" y="1736075"/>
            <a:ext cx="2005337" cy="1171395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469" y="1889919"/>
            <a:ext cx="1748580" cy="262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08469" y="2178194"/>
            <a:ext cx="1748580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08469" y="2402790"/>
            <a:ext cx="174858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2,698 per angle column, filled with median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93314" y="1736075"/>
            <a:ext cx="2005337" cy="1171395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7157" y="1889919"/>
            <a:ext cx="1748580" cy="262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47157" y="2178194"/>
            <a:ext cx="1748580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Duplicates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47157" y="2402790"/>
            <a:ext cx="1748580" cy="200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 found, nothing to remove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32000" y="1736075"/>
            <a:ext cx="2005337" cy="1171395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5844" y="1889919"/>
            <a:ext cx="1748580" cy="262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85844" y="2178194"/>
            <a:ext cx="1748580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Correlation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85844" y="2402790"/>
            <a:ext cx="174858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Heatmap: oid is the strongest link, 0.37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70688" y="1736075"/>
            <a:ext cx="2005337" cy="1171395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4531" y="1889919"/>
            <a:ext cx="1748580" cy="262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524531" y="2178194"/>
            <a:ext cx="1748580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Encoding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24531" y="2402790"/>
            <a:ext cx="174858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Label Encoding for the text columns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5975" y="3040821"/>
            <a:ext cx="2005301" cy="1171395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818" y="3194664"/>
            <a:ext cx="1748543" cy="262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9818" y="3482939"/>
            <a:ext cx="1748543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Outliers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818" y="3707535"/>
            <a:ext cx="1848283" cy="200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Box plots, then IQR capping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954626" y="3040821"/>
            <a:ext cx="2005337" cy="1171395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469" y="3194664"/>
            <a:ext cx="1748580" cy="262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108469" y="3482939"/>
            <a:ext cx="1748580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SMOTE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08469" y="3707535"/>
            <a:ext cx="174858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Skipped: it is for classification only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93314" y="3040821"/>
            <a:ext cx="2005337" cy="1171395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47157" y="3194664"/>
            <a:ext cx="1748580" cy="262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247157" y="3482939"/>
            <a:ext cx="1748580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47157" y="3707535"/>
            <a:ext cx="174858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SelectKBest, f_regression, k = 4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232000" y="3040821"/>
            <a:ext cx="2005337" cy="1171395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5844" y="3194664"/>
            <a:ext cx="1748580" cy="262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385844" y="3482939"/>
            <a:ext cx="1748580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Skewness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85844" y="3707535"/>
            <a:ext cx="1848319" cy="200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Yeo-Johnson tested, no gain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9370688" y="3040821"/>
            <a:ext cx="2005337" cy="1171395"/>
          </a:xfrm>
          <a:prstGeom prst="roundRect">
            <a:avLst>
              <a:gd name="adj" fmla="val 840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24531" y="3194664"/>
            <a:ext cx="1748580" cy="262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524531" y="3482939"/>
            <a:ext cx="1748580" cy="199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Scaling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524531" y="3707535"/>
            <a:ext cx="1748580" cy="376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StandardScaler, then 5 models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12800" y="6270265"/>
            <a:ext cx="588645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Rebecca · Traffic Tracks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058400" y="6270265"/>
            <a:ext cx="132080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CORRELATION · HEAT MAP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0572"/>
            <a:ext cx="10883392" cy="42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the features relate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707502"/>
            <a:ext cx="4572000" cy="39370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</p:spPr>
      </p:sp>
      <p:pic>
        <p:nvPicPr>
          <p:cNvPr id="5" name="Image 0" descr="Annotated correlation heatmap of the ten numeric columns in the tracks dataset">    </p:cNvPr>
          <p:cNvPicPr>
            <a:picLocks noChangeAspect="1"/>
          </p:cNvPicPr>
          <p:nvPr/>
        </p:nvPicPr>
        <p:blipFill>
          <a:blip r:embed="rId1"/>
          <a:srcRect l="0" r="0" t="-15" b="-15"/>
          <a:stretch/>
        </p:blipFill>
        <p:spPr>
          <a:xfrm>
            <a:off x="819150" y="1713852"/>
            <a:ext cx="4559300" cy="3924300"/>
          </a:xfrm>
          <a:prstGeom prst="roundRect">
            <a:avLst>
              <a:gd name="adj" fmla="val 2427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710677"/>
            <a:ext cx="4565650" cy="3930650"/>
          </a:xfrm>
          <a:prstGeom prst="roundRect">
            <a:avLst>
              <a:gd name="adj" fmla="val 2504"/>
            </a:avLst>
          </a:prstGeom>
          <a:noFill/>
          <a:ln w="6350">
            <a:solidFill>
              <a:srgbClr val="DDD9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92775" y="1943643"/>
            <a:ext cx="5683250" cy="817599"/>
          </a:xfrm>
          <a:prstGeom prst="roundRect">
            <a:avLst>
              <a:gd name="adj" fmla="val 12038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418" y="2122884"/>
            <a:ext cx="5432183" cy="22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Strongest link to timestamp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97418" y="2357475"/>
            <a:ext cx="5432183" cy="24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oid: 0.37</a:t>
            </a:r>
            <a:r>
              <a: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a positive link.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92775" y="2907291"/>
            <a:ext cx="5683250" cy="817599"/>
          </a:xfrm>
          <a:prstGeom prst="roundRect">
            <a:avLst>
              <a:gd name="adj" fmla="val 12038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7418" y="3086534"/>
            <a:ext cx="5432183" cy="22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Position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97418" y="3321123"/>
            <a:ext cx="5432183" cy="24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x is −0.20 and y is −0.23: weak and negative.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92775" y="3870939"/>
            <a:ext cx="5683250" cy="817599"/>
          </a:xfrm>
          <a:prstGeom prst="roundRect">
            <a:avLst>
              <a:gd name="adj" fmla="val 12038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97418" y="4050182"/>
            <a:ext cx="5432183" cy="221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Angles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97418" y="4284771"/>
            <a:ext cx="5432183" cy="24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All between −0.15 and 0.10: almost no link.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89600" y="4831412"/>
            <a:ext cx="5689600" cy="580123"/>
          </a:xfrm>
          <a:prstGeom prst="roundRect">
            <a:avLst>
              <a:gd name="adj" fmla="val 17514"/>
            </a:avLst>
          </a:prstGeom>
          <a:solidFill>
            <a:srgbClr val="14213D"/>
          </a:solidFill>
          <a:ln/>
        </p:spPr>
        <p:txBody>
          <a:bodyPr wrap="square" lIns="173442" tIns="148042" rIns="14946" bIns="12264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Takeaway:</a:t>
            </a:r>
            <a:r>
              <a:rPr lang="en-US" sz="1600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no single feature explains timestamp.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12800" y="6270265"/>
            <a:ext cx="588645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Rebecca · Traffic Tracks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0" y="6270265"/>
            <a:ext cx="132080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OUTLIERS · BOX PLOT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0572"/>
            <a:ext cx="10883392" cy="42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Finding and capping outliers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2800" y="1694802"/>
            <a:ext cx="7874000" cy="276860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</p:spPr>
      </p:sp>
      <p:pic>
        <p:nvPicPr>
          <p:cNvPr id="5" name="Image 0" descr="Box plots of five angle columns before and after IQR capping">    </p:cNvPr>
          <p:cNvPicPr>
            <a:picLocks noChangeAspect="1"/>
          </p:cNvPicPr>
          <p:nvPr/>
        </p:nvPicPr>
        <p:blipFill>
          <a:blip r:embed="rId1"/>
          <a:srcRect l="-112" r="-112" t="0" b="0"/>
          <a:stretch/>
        </p:blipFill>
        <p:spPr>
          <a:xfrm>
            <a:off x="819150" y="1701152"/>
            <a:ext cx="7861300" cy="2755900"/>
          </a:xfrm>
          <a:prstGeom prst="roundRect">
            <a:avLst>
              <a:gd name="adj" fmla="val 3456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815975" y="1697977"/>
            <a:ext cx="7867650" cy="2762250"/>
          </a:xfrm>
          <a:prstGeom prst="roundRect">
            <a:avLst>
              <a:gd name="adj" fmla="val 3563"/>
            </a:avLst>
          </a:prstGeom>
          <a:noFill/>
          <a:ln w="6350">
            <a:solidFill>
              <a:srgbClr val="DDD9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800" y="4653902"/>
            <a:ext cx="10566400" cy="763660"/>
          </a:xfrm>
          <a:prstGeom prst="roundRect">
            <a:avLst>
              <a:gd name="adj" fmla="val 13304"/>
            </a:avLst>
          </a:prstGeom>
          <a:solidFill>
            <a:srgbClr val="14213D"/>
          </a:solidFill>
          <a:ln/>
        </p:spPr>
      </p:sp>
      <p:sp>
        <p:nvSpPr>
          <p:cNvPr id="8" name="Text 5"/>
          <p:cNvSpPr/>
          <p:nvPr/>
        </p:nvSpPr>
        <p:spPr>
          <a:xfrm>
            <a:off x="1041400" y="4806302"/>
            <a:ext cx="10412476" cy="22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Outlier rows (IQR rule):</a:t>
            </a:r>
            <a:r>
              <a:rPr lang="en-US" sz="1400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head_roll 831 · head_pitch 726 · body_pitch 481 · body_roll 411 · head_yaw 37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41400" y="5061130"/>
            <a:ext cx="10412476" cy="22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F2B8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Lesson: these angles are mostly 0, so IQR = 0 and capping flattened three of them to a constant 0.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2800" y="6270265"/>
            <a:ext cx="588645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Rebecca · Traffic Tracks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0" y="6270265"/>
            <a:ext cx="132080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4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STEPS 5, 7 AND 8 · ENCODING, SMOTE, FEATURE SELECTION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98407"/>
            <a:ext cx="10883392" cy="424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28"/>
              </a:lnSpc>
              <a:buNone/>
            </a:pPr>
            <a:r>
              <a:rPr lang="en-US" sz="3389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Choosing the features</a:t>
            </a:r>
            <a:endParaRPr lang="en-US" sz="3389" dirty="0"/>
          </a:p>
        </p:txBody>
      </p:sp>
      <p:sp>
        <p:nvSpPr>
          <p:cNvPr id="4" name="Shape 2"/>
          <p:cNvSpPr/>
          <p:nvPr/>
        </p:nvSpPr>
        <p:spPr>
          <a:xfrm>
            <a:off x="815975" y="1755127"/>
            <a:ext cx="5149850" cy="4083700"/>
          </a:xfrm>
          <a:prstGeom prst="roundRect">
            <a:avLst>
              <a:gd name="adj" fmla="val 303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6818" y="2035969"/>
            <a:ext cx="4725809" cy="25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Encoding and SMOTE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6818" y="2389659"/>
            <a:ext cx="4865832" cy="258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Label Encoding</a:t>
            </a:r>
            <a:r>
              <a: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turned the four text columns into numbers.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6818" y="2749804"/>
            <a:ext cx="4725809" cy="491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SMOTE skipped.</a:t>
            </a:r>
            <a:r>
              <a: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It balances classes, and my target is a number, not a class.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6818" y="3343095"/>
            <a:ext cx="4725809" cy="72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SelectKBest</a:t>
            </a:r>
            <a:r>
              <a: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with f_regression, because the target is continuous. k=25 was too big for 13 features, so I used </a:t>
            </a:r>
            <a:r>
              <a:rPr lang="en-US" sz="16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 = 4</a:t>
            </a:r>
            <a:r>
              <a: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26175" y="1755127"/>
            <a:ext cx="5149850" cy="4083700"/>
          </a:xfrm>
          <a:prstGeom prst="roundRect">
            <a:avLst>
              <a:gd name="adj" fmla="val 3032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018" y="2035969"/>
            <a:ext cx="4725809" cy="24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7"/>
              </a:lnSpc>
              <a:buNone/>
            </a:pPr>
            <a:r>
              <a:rPr lang="en-US" sz="1491" b="1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Feature scores</a:t>
            </a:r>
            <a:endParaRPr lang="en-US" sz="1491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18564" y="2347877"/>
          <a:ext cx="4576618" cy="2939617"/>
        </p:xfrm>
        <a:graphic>
          <a:graphicData uri="http://schemas.openxmlformats.org/drawingml/2006/table">
            <a:tbl>
              <a:tblPr/>
              <a:tblGrid>
                <a:gridCol w="2517140"/>
                <a:gridCol w="2059478"/>
              </a:tblGrid>
              <a:tr h="367434">
                <a:tc>
                  <a:txBody>
                    <a:bodyPr/>
                    <a:lstStyle/>
                    <a:p>
                      <a:pPr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Feature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Score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367434">
                <a:tc>
                  <a:txBody>
                    <a:bodyPr/>
                    <a:lstStyle/>
                    <a:p>
                      <a:pPr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oid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773.5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</a:tr>
              <a:tr h="367434">
                <a:tc>
                  <a:txBody>
                    <a:bodyPr/>
                    <a:lstStyle/>
                    <a:p>
                      <a:pPr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y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254.3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</a:tr>
              <a:tr h="367434">
                <a:tc>
                  <a:txBody>
                    <a:bodyPr/>
                    <a:lstStyle/>
                    <a:p>
                      <a:pPr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x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201.0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</a:tr>
              <a:tr h="367470">
                <a:tc>
                  <a:txBody>
                    <a:bodyPr/>
                    <a:lstStyle/>
                    <a:p>
                      <a:pPr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body_yaw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40.3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</a:tr>
              <a:tr h="367470">
                <a:tc>
                  <a:txBody>
                    <a:bodyPr/>
                    <a:lstStyle/>
                    <a:p>
                      <a:pPr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head_yaw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24.9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70">
                <a:tc>
                  <a:txBody>
                    <a:bodyPr/>
                    <a:lstStyle/>
                    <a:p>
                      <a:pPr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head_pitch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11.1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70">
                <a:tc>
                  <a:txBody>
                    <a:bodyPr/>
                    <a:lstStyle/>
                    <a:p>
                      <a:pPr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 flattened columns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074"/>
                        </a:lnSpc>
                        <a:buNone/>
                      </a:pPr>
                      <a:r>
                        <a:rPr lang="en-US" sz="148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</a:t>
                      </a:r>
                      <a:endParaRPr lang="en-US" sz="1481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5842" marR="65842" marT="65842" marB="65842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507018" y="5363694"/>
            <a:ext cx="4725809" cy="219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Shaded rows are the 4 selected features.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70265"/>
            <a:ext cx="588645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Rebecca · Traffic Tracks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0" y="6270265"/>
            <a:ext cx="132080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STEPS 9 AND 10 · SKEWNESS, SCALING, MODELS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0572"/>
            <a:ext cx="10883392" cy="42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Getting the data model-ready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786877"/>
            <a:ext cx="3414171" cy="1184997"/>
          </a:xfrm>
          <a:prstGeom prst="roundRect">
            <a:avLst>
              <a:gd name="adj" fmla="val 10449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018" y="2016919"/>
            <a:ext cx="3042708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Skewness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6018" y="2304690"/>
            <a:ext cx="3042708" cy="46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Tested Yeo-Johnson. Score changed by under 0.002, so I did not need 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8896" y="1786877"/>
            <a:ext cx="3414207" cy="1184997"/>
          </a:xfrm>
          <a:prstGeom prst="roundRect">
            <a:avLst>
              <a:gd name="adj" fmla="val 10449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8940" y="2016919"/>
            <a:ext cx="3042745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Scaling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8940" y="2304690"/>
            <a:ext cx="3042745" cy="46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StandardScaler put x, y, oid and body_yaw on one scale.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61854" y="1786877"/>
            <a:ext cx="3414171" cy="1184997"/>
          </a:xfrm>
          <a:prstGeom prst="roundRect">
            <a:avLst>
              <a:gd name="adj" fmla="val 10449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1897" y="2016919"/>
            <a:ext cx="3042708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Split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91897" y="2304690"/>
            <a:ext cx="3042708" cy="46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80% training, 20% testing, random_state 40.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3254449"/>
            <a:ext cx="10883392" cy="25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Five regression models compared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3608136"/>
            <a:ext cx="1697687" cy="42988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  <p:txBody>
          <a:bodyPr wrap="none" lIns="0" tIns="38645" rIns="0" bIns="1324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12087" y="3608136"/>
            <a:ext cx="1361931" cy="42988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  <p:txBody>
          <a:bodyPr wrap="none" lIns="0" tIns="38645" rIns="0" bIns="1324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Decision Tree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75618" y="3608136"/>
            <a:ext cx="1496760" cy="42988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  <p:txBody>
          <a:bodyPr wrap="none" lIns="0" tIns="38645" rIns="0" bIns="1324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73978" y="3608136"/>
            <a:ext cx="1099163" cy="42988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  <p:txBody>
          <a:bodyPr wrap="none" lIns="0" tIns="38645" rIns="0" bIns="1324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AdaBoost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74741" y="3608136"/>
            <a:ext cx="1724711" cy="429888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  <p:txBody>
          <a:bodyPr wrap="none" lIns="0" tIns="38645" rIns="0" bIns="13245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4165023"/>
            <a:ext cx="10883392" cy="252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Measured with MAE, MSE and R². Not accuracy, because accuracy is for classification.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270265"/>
            <a:ext cx="588645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Rebecca · Traffic Tracks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70265"/>
            <a:ext cx="132080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F2B8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MISTAKE I CAUGHT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0572"/>
            <a:ext cx="10883392" cy="45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perfect score was a warning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82043"/>
            <a:ext cx="5181600" cy="1950388"/>
          </a:xfrm>
          <a:prstGeom prst="roundRect">
            <a:avLst>
              <a:gd name="adj" fmla="val 6512"/>
            </a:avLst>
          </a:prstGeom>
          <a:solidFill>
            <a:srgbClr val="22325A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2061443"/>
            <a:ext cx="4761484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B84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Before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2200" y="2349212"/>
            <a:ext cx="4761484" cy="58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R² = 1.00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92200" y="2986739"/>
            <a:ext cx="4761484" cy="491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C9D3E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target, timestamp, was still inside my features. SelectKBest gave it a score of 1.8e308.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97600" y="1782043"/>
            <a:ext cx="5181600" cy="1950388"/>
          </a:xfrm>
          <a:prstGeom prst="roundRect">
            <a:avLst>
              <a:gd name="adj" fmla="val 6512"/>
            </a:avLst>
          </a:prstGeom>
          <a:solidFill>
            <a:srgbClr val="F2B84B"/>
          </a:solidFill>
          <a:ln/>
        </p:spPr>
      </p:sp>
      <p:sp>
        <p:nvSpPr>
          <p:cNvPr id="9" name="Text 7"/>
          <p:cNvSpPr/>
          <p:nvPr/>
        </p:nvSpPr>
        <p:spPr>
          <a:xfrm>
            <a:off x="6477000" y="2061443"/>
            <a:ext cx="4761484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After the fix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77000" y="2349212"/>
            <a:ext cx="4761484" cy="58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R² = 0.24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477000" y="2986739"/>
            <a:ext cx="4761484" cy="491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Linear Regression with timestamp removed from the features. An honest score.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986430"/>
            <a:ext cx="10566400" cy="546569"/>
          </a:xfrm>
          <a:prstGeom prst="roundRect">
            <a:avLst>
              <a:gd name="adj" fmla="val 13942"/>
            </a:avLst>
          </a:prstGeom>
          <a:solidFill>
            <a:srgbClr val="0B1428"/>
          </a:solidFill>
          <a:ln/>
        </p:spPr>
        <p:txBody>
          <a:bodyPr wrap="square" lIns="180882" tIns="130082" rIns="0" bIns="104682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7F5E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x = x.drop(columns=['timestamp'])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70265"/>
            <a:ext cx="588645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6C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Rebecca · Traffic Tracks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70265"/>
            <a:ext cx="132080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AB6C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RESULTS AFTER THE FIX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0572"/>
            <a:ext cx="10883392" cy="42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 performed best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45" y="1744451"/>
          <a:ext cx="10554855" cy="2373240"/>
        </p:xfrm>
        <a:graphic>
          <a:graphicData uri="http://schemas.openxmlformats.org/drawingml/2006/table">
            <a:tbl>
              <a:tblPr/>
              <a:tblGrid>
                <a:gridCol w="3588651"/>
                <a:gridCol w="1688777"/>
                <a:gridCol w="2638714"/>
                <a:gridCol w="2638714"/>
              </a:tblGrid>
              <a:tr h="3955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Model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MAE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R² (test split)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R² (new pedestrians)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D"/>
                    </a:solidFill>
                  </a:tcPr>
                </a:tc>
              </a:tr>
              <a:tr h="3955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Linear Regression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571.4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0.24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0.25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5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Decision Tree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0.2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1.00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0.83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5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Random Forest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0.1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1.00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0.93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</a:tr>
              <a:tr h="3955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AdaBoost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150.0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0.95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0.70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554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Gradient Boosting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8.6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1.00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0.92</a:t>
                      </a:r>
                      <a:endParaRPr lang="en-US" sz="16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346290"/>
            <a:ext cx="10883392" cy="229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The last column tests on pedestrians the model never saw, a harder and fairer check. Values are approximate and can vary slightly between runs.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70265"/>
            <a:ext cx="588645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Rebecca · Traffic Tracks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70265"/>
            <a:ext cx="132080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6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0F7C7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0572"/>
            <a:ext cx="10883392" cy="429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3400" b="1" i="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learned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1786880"/>
            <a:ext cx="3397250" cy="1953202"/>
          </a:xfrm>
          <a:prstGeom prst="roundRect">
            <a:avLst>
              <a:gd name="adj" fmla="val 6340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418" y="2042319"/>
            <a:ext cx="2972955" cy="414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1418" y="2519834"/>
            <a:ext cx="2972955" cy="24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Simple is not enough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1418" y="2828925"/>
            <a:ext cx="2972955" cy="68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Linear Regression reached only R² 0.24. The link between position and time is not a straight line.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97375" y="1786880"/>
            <a:ext cx="3397250" cy="1953202"/>
          </a:xfrm>
          <a:prstGeom prst="roundRect">
            <a:avLst>
              <a:gd name="adj" fmla="val 6340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2818" y="2042319"/>
            <a:ext cx="2972955" cy="414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52818" y="2519834"/>
            <a:ext cx="2972955" cy="24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Ensembles win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52818" y="2828925"/>
            <a:ext cx="2972955" cy="68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Random Forest scored about 0.93 even on new pedestrians, the best of the five models.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78775" y="1786880"/>
            <a:ext cx="3397250" cy="1953202"/>
          </a:xfrm>
          <a:prstGeom prst="roundRect">
            <a:avLst>
              <a:gd name="adj" fmla="val 6340"/>
            </a:avLst>
          </a:prstGeom>
          <a:solidFill>
            <a:srgbClr val="FFFFFF"/>
          </a:solidFill>
          <a:ln w="6350">
            <a:solidFill>
              <a:srgbClr val="DDD9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4218" y="2042319"/>
            <a:ext cx="2972955" cy="414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F7C7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34218" y="2519834"/>
            <a:ext cx="2972955" cy="24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Question perfect scores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34218" y="2828925"/>
            <a:ext cx="2972955" cy="46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R² = 1.0 meant my target had leaked into the features. Always check.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3960000"/>
            <a:ext cx="10566400" cy="2000000"/>
          </a:xfrm>
          <a:prstGeom prst="roundRect">
            <a:avLst>
              <a:gd name="adj" fmla="val 19692"/>
            </a:avLst>
          </a:prstGeom>
          <a:solidFill>
            <a:srgbClr val="14213D"/>
          </a:solidFill>
          <a:ln/>
        </p:spPr>
        <p:txBody>
          <a:bodyPr wrap="square" lIns="242203" tIns="100000" rIns="0" bIns="1000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sz="7200" b="1">
                <a:solidFill>
                  <a:srgbClr val="F2B84B"/>
                </a:solidFill>
                <a:latin typeface="DM Sans"/>
              </a:rPr>
              <a:t>Thank you</a:t>
            </a:r>
            <a:endParaRPr lang="en-US" sz="1700" dirty="0"/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C9D3E3"/>
                </a:solidFill>
                <a:latin typeface="Nunito Sans"/>
              </a:rPr>
              <a:t>Next steps: tune the Random Forest and add more informative features.</a:t>
            </a:r>
          </a:p>
        </p:txBody>
      </p:sp>
      <p:sp>
        <p:nvSpPr>
          <p:cNvPr id="17" name="Text 15"/>
          <p:cNvSpPr/>
          <p:nvPr/>
        </p:nvSpPr>
        <p:spPr>
          <a:xfrm>
            <a:off x="812800" y="6270265"/>
            <a:ext cx="588645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Rebecca · Traffic Tracks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70265"/>
            <a:ext cx="1320800" cy="20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affic Tracks – Rebecca">
  <a:themeElements>
    <a:clrScheme name="Traffic Tracks – Rebecca">
      <a:dk1>
        <a:srgbClr val="14213D"/>
      </a:dk1>
      <a:lt1>
        <a:srgbClr val="F7F5EF"/>
      </a:lt1>
      <a:dk2>
        <a:srgbClr val="4D566A"/>
      </a:dk2>
      <a:lt2>
        <a:srgbClr val="E0E0DD"/>
      </a:lt2>
      <a:accent1>
        <a:srgbClr val="0F7C7C"/>
      </a:accent1>
      <a:accent2>
        <a:srgbClr val="F2B84B"/>
      </a:accent2>
      <a:accent3>
        <a:srgbClr val="22325A"/>
      </a:accent3>
      <a:accent4>
        <a:srgbClr val="4A5568"/>
      </a:accent4>
      <a:accent5>
        <a:srgbClr val="6A7179"/>
      </a:accent5>
      <a:accent6>
        <a:srgbClr val="C9D3E3"/>
      </a:accent6>
      <a:hlink>
        <a:srgbClr val="0563C1"/>
      </a:hlink>
      <a:folHlink>
        <a:srgbClr val="954F72"/>
      </a:folHlink>
    </a:clrScheme>
    <a:fontScheme name="Traffic Tracks – Rebecca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Traffic Tracks – Rebecca</dc:title>
  <dc:subject/>
  <dc:creator/>
  <cp:lastModifiedBy/>
  <cp:revision>1</cp:revision>
  <dcterms:created xsi:type="dcterms:W3CDTF">2026-10-07T08:36:16Z</dcterms:created>
  <dcterms:modified xsi:type="dcterms:W3CDTF">2026-10-07T08:36:16Z</dcterms:modified>
</cp:coreProperties>
</file>